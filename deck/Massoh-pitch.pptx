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</c:v>
                </c:pt>
              </c:strCache>
            </c:strRef>
          </c:tx>
          <c:spPr>
            <a:solidFill>
              <a:srgbClr val="3D4CB8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1B3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product-scope</c:v>
                  </c:pt>
                  <c:pt idx="1">
                    <c:v>arch-safety</c:v>
                  </c:pt>
                  <c:pt idx="2">
                    <c:v>implementer</c:v>
                  </c:pt>
                  <c:pt idx="3">
                    <c:v>reviewer-qa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52922</c:v>
                </c:pt>
                <c:pt idx="1">
                  <c:v>56234</c:v>
                </c:pt>
                <c:pt idx="2">
                  <c:v>85819</c:v>
                </c:pt>
                <c:pt idx="3">
                  <c:v>89670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41B3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F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0" cy="6858000"/>
          </a:xfrm>
          <a:prstGeom prst="line">
            <a:avLst/>
          </a:prstGeom>
          <a:noFill/>
          <a:ln w="12700">
            <a:solidFill>
              <a:srgbClr val="24345E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0" cy="6858000"/>
          </a:xfrm>
          <a:prstGeom prst="line">
            <a:avLst/>
          </a:prstGeom>
          <a:noFill/>
          <a:ln w="12700">
            <a:solidFill>
              <a:srgbClr val="24345E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12700">
            <a:solidFill>
              <a:srgbClr val="24345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469880" y="0"/>
            <a:ext cx="0" cy="6858000"/>
          </a:xfrm>
          <a:prstGeom prst="line">
            <a:avLst/>
          </a:prstGeom>
          <a:noFill/>
          <a:ln w="12700">
            <a:solidFill>
              <a:srgbClr val="24345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12700">
            <a:solidFill>
              <a:srgbClr val="24345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863840" y="1371600"/>
            <a:ext cx="868680" cy="0"/>
          </a:xfrm>
          <a:prstGeom prst="line">
            <a:avLst/>
          </a:prstGeom>
          <a:noFill/>
          <a:ln w="25400">
            <a:solidFill>
              <a:srgbClr val="4659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32520" y="2103120"/>
            <a:ext cx="1737360" cy="0"/>
          </a:xfrm>
          <a:prstGeom prst="line">
            <a:avLst/>
          </a:prstGeom>
          <a:noFill/>
          <a:ln w="25400">
            <a:solidFill>
              <a:srgbClr val="12B5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0" y="2834640"/>
            <a:ext cx="868680" cy="0"/>
          </a:xfrm>
          <a:prstGeom prst="line">
            <a:avLst/>
          </a:prstGeom>
          <a:noFill/>
          <a:ln w="25400">
            <a:solidFill>
              <a:srgbClr val="4659C4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7863840" y="3566160"/>
            <a:ext cx="2606040" cy="0"/>
          </a:xfrm>
          <a:prstGeom prst="line">
            <a:avLst/>
          </a:prstGeom>
          <a:noFill/>
          <a:ln w="25400">
            <a:solidFill>
              <a:srgbClr val="12B5A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601200" y="4297680"/>
            <a:ext cx="868680" cy="0"/>
          </a:xfrm>
          <a:prstGeom prst="line">
            <a:avLst/>
          </a:prstGeom>
          <a:noFill/>
          <a:ln w="25400">
            <a:solidFill>
              <a:srgbClr val="4659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9601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960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OPERATING SYSTEM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1783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</a:t>
            </a:r>
            <a:endParaRPr lang="en-US" sz="74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portable agent operating system for Claude Code.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disciplined software team of AI agents — running any repo through a gated,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workflow with hard safety gates, self-measurement, and an optional autonomous mode.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4672" y="5074920"/>
            <a:ext cx="0" cy="777240"/>
          </a:xfrm>
          <a:prstGeom prst="line">
            <a:avLst/>
          </a:prstGeom>
          <a:noFill/>
          <a:ln w="38100">
            <a:solidFill>
              <a:srgbClr val="12B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29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“Agile’s discipline without agile’s meetings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enforced, auditable, for AI agents.”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 are fast, cheap — and ungoverned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speed that ships a feature in minutes ships an irreversible mistake in seconds.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542032" cy="109728"/>
          </a:xfrm>
          <a:prstGeom prst="rect">
            <a:avLst/>
          </a:prstGeom>
          <a:solidFill>
            <a:srgbClr val="E0565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67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creep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71576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ask becomes a refactor of three modules. No one decided that.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874520"/>
            <a:ext cx="254203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167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38728" y="271576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cold. Decisions, constraints, and history evaporate.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874520"/>
            <a:ext cx="2542032" cy="109728"/>
          </a:xfrm>
          <a:prstGeom prst="rect">
            <a:avLst/>
          </a:prstGeom>
          <a:solidFill>
            <a:srgbClr val="3D4CB8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167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paper trail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7648" y="271576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built? Who approved it? Where is the test? — nobody knows.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18745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15400" y="1874520"/>
            <a:ext cx="2542032" cy="109728"/>
          </a:xfrm>
          <a:prstGeom prst="rect">
            <a:avLst/>
          </a:prstGeom>
          <a:solidFill>
            <a:srgbClr val="E05656"/>
          </a:solidFill>
          <a:ln/>
        </p:spPr>
      </p:sp>
      <p:sp>
        <p:nvSpPr>
          <p:cNvPr id="19" name="Text 17"/>
          <p:cNvSpPr/>
          <p:nvPr/>
        </p:nvSpPr>
        <p:spPr>
          <a:xfrm>
            <a:off x="9116568" y="216712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Cheap blast radius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16568" y="2715768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 delete data, rewrite history, or deploy in one tool call.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1091672" cy="1783080"/>
          </a:xfrm>
          <a:prstGeom prst="roundRect">
            <a:avLst>
              <a:gd name="adj" fmla="val 5128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gap nobody fills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agents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gas, no brakes — speed without process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754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process, built for humans — sprints, standups, story points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21040" y="4754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agile’s empirical discipline, the meetings removed, hard gates added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Post-agile for agents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what works empirically. Drop the human coordination tax. Add the gates agile leaves implicit.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7627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76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in small increments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against reality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adapt from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17627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176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8346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&amp; story points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Standups for humans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Hand-offs as meetings — agents sync through files, instantly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0184" y="217627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D4CB8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1762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57616" y="28346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without a license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sign-off on safety-critical change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test, every time — a stub never counts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UML COMPONENT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once, globally. Opt in per repo.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Pure-bash CLI + a machine-readable boundary (manifest.yml). No runtime service.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64408" cy="3931920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9050">
            <a:solidFill>
              <a:srgbClr val="2A3690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264408" cy="566928"/>
          </a:xfrm>
          <a:prstGeom prst="rect">
            <a:avLst/>
          </a:prstGeom>
          <a:solidFill>
            <a:srgbClr val="2A36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«source»  This repo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67004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7004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bin/massoh  ·  manifest.yml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63016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301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claude/agents/  ·  skills/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459028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9028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agent-os/ engine  ·  templates/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53128" y="1828800"/>
            <a:ext cx="3264408" cy="3931920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9050">
            <a:solidFill>
              <a:srgbClr val="0E9384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53128" y="1828800"/>
            <a:ext cx="3264408" cy="566928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182880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«global»  ~/.claude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81728" y="267004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67004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massoh-* agents (namespaced)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363016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6301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agent-os/ policies + skills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81728" y="459028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459028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marker-gated CLAUDE.md block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57616" y="1828800"/>
            <a:ext cx="3264408" cy="3931920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 w="19050">
            <a:solidFill>
              <a:srgbClr val="5A4FB0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57616" y="1828800"/>
            <a:ext cx="3264408" cy="566928"/>
          </a:xfrm>
          <a:prstGeom prst="rect">
            <a:avLst/>
          </a:prstGeom>
          <a:solidFill>
            <a:srgbClr val="5A4FB0"/>
          </a:solidFill>
          <a:ln/>
        </p:spPr>
      </p:sp>
      <p:sp>
        <p:nvSpPr>
          <p:cNvPr id="25" name="Text 23"/>
          <p:cNvSpPr/>
          <p:nvPr/>
        </p:nvSpPr>
        <p:spPr>
          <a:xfrm>
            <a:off x="8540496" y="182880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«host»  your project repo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586216" y="267004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23376" y="267004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agent-project/  ·  AGENT_SYNC.md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86216" y="363016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23376" y="363016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AGENT_BACKLOG.md  ·  memory/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86216" y="4590288"/>
            <a:ext cx="2807208" cy="749808"/>
          </a:xfrm>
          <a:prstGeom prst="roundRect">
            <a:avLst>
              <a:gd name="adj" fmla="val 7317"/>
            </a:avLst>
          </a:prstGeom>
          <a:solidFill>
            <a:srgbClr val="F5F6FA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23376" y="4590288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.massoh marker  ·  .agent_tasks/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867912" y="3657600"/>
            <a:ext cx="530352" cy="0"/>
          </a:xfrm>
          <a:prstGeom prst="line">
            <a:avLst/>
          </a:prstGeom>
          <a:noFill/>
          <a:ln w="25400">
            <a:solidFill>
              <a:srgbClr val="0E9384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813048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13048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72400" y="3657600"/>
            <a:ext cx="530352" cy="0"/>
          </a:xfrm>
          <a:prstGeom prst="line">
            <a:avLst/>
          </a:prstGeom>
          <a:noFill/>
          <a:ln w="25400">
            <a:solidFill>
              <a:srgbClr val="5A4FB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17536" y="3227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F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17536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manifest.yml ⇄ bin/massoh is the contract seam — doctor checks the live install against it.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TEAM · CLAUDE/AGENTS/MASSOH-*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roles. One owner. Clear authority.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decides exactly one class of thing — and only the implementer touches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91440" cy="1417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9339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massoh-product-scope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defer / kill · scope · metric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8620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8893A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62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828800"/>
            <a:ext cx="91440" cy="1417320"/>
          </a:xfrm>
          <a:prstGeom prst="rect">
            <a:avLst/>
          </a:prstGeom>
          <a:solidFill>
            <a:srgbClr val="E05656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199339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massoh-architecture-safety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239572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readiness-to-build · risk (a gate)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30168" y="28620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E05656"/>
          </a:solidFill>
          <a:ln/>
        </p:spPr>
      </p:sp>
      <p:sp>
        <p:nvSpPr>
          <p:cNvPr id="16" name="Text 14"/>
          <p:cNvSpPr/>
          <p:nvPr/>
        </p:nvSpPr>
        <p:spPr>
          <a:xfrm>
            <a:off x="3630168" y="2862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GATE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1828800"/>
            <a:ext cx="91440" cy="141732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9" name="Text 17"/>
          <p:cNvSpPr/>
          <p:nvPr/>
        </p:nvSpPr>
        <p:spPr>
          <a:xfrm>
            <a:off x="6483096" y="199339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massoh-implementer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239572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approved scope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83096" y="28620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0E9384"/>
          </a:solidFill>
          <a:ln/>
        </p:spPr>
      </p:sp>
      <p:sp>
        <p:nvSpPr>
          <p:cNvPr id="22" name="Text 20"/>
          <p:cNvSpPr/>
          <p:nvPr/>
        </p:nvSpPr>
        <p:spPr>
          <a:xfrm>
            <a:off x="6483096" y="2862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code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07424" y="1828800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07424" y="1828800"/>
            <a:ext cx="91440" cy="1417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9336024" y="1993392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massoh-reviewer-qa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36024" y="239572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changes / reject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36024" y="28620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8893A8"/>
          </a:solidFill>
          <a:ln/>
        </p:spPr>
      </p:sp>
      <p:sp>
        <p:nvSpPr>
          <p:cNvPr id="28" name="Text 26"/>
          <p:cNvSpPr/>
          <p:nvPr/>
        </p:nvSpPr>
        <p:spPr>
          <a:xfrm>
            <a:off x="9336024" y="28620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447288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447288"/>
            <a:ext cx="91440" cy="1417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6118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massoh-system-architect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401421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· sequence · arch calls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44805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E8A33D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4805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safe seams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01568" y="3447288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01568" y="3447288"/>
            <a:ext cx="91440" cy="1417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3630168" y="36118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massoh-history-maintainer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30168" y="401421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/ merge / archive docs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30168" y="44805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8893A8"/>
          </a:solidFill>
          <a:ln/>
        </p:spPr>
      </p:sp>
      <p:sp>
        <p:nvSpPr>
          <p:cNvPr id="40" name="Text 38"/>
          <p:cNvSpPr/>
          <p:nvPr/>
        </p:nvSpPr>
        <p:spPr>
          <a:xfrm>
            <a:off x="3630168" y="44805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54496" y="3447288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54496" y="3447288"/>
            <a:ext cx="91440" cy="1417320"/>
          </a:xfrm>
          <a:prstGeom prst="rect">
            <a:avLst/>
          </a:prstGeom>
          <a:solidFill>
            <a:srgbClr val="3D4CB8"/>
          </a:solidFill>
          <a:ln/>
        </p:spPr>
      </p:sp>
      <p:sp>
        <p:nvSpPr>
          <p:cNvPr id="43" name="Text 41"/>
          <p:cNvSpPr/>
          <p:nvPr/>
        </p:nvSpPr>
        <p:spPr>
          <a:xfrm>
            <a:off x="6483096" y="36118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massoh-meta-engineer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83096" y="401421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· propose engine upgrades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83096" y="44805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3D4CB8"/>
          </a:solidFill>
          <a:ln/>
        </p:spPr>
      </p:sp>
      <p:sp>
        <p:nvSpPr>
          <p:cNvPr id="46" name="Text 44"/>
          <p:cNvSpPr/>
          <p:nvPr/>
        </p:nvSpPr>
        <p:spPr>
          <a:xfrm>
            <a:off x="6483096" y="44805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PROPOSE-ONLY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107424" y="3447288"/>
            <a:ext cx="2688336" cy="1417320"/>
          </a:xfrm>
          <a:prstGeom prst="roundRect">
            <a:avLst>
              <a:gd name="adj" fmla="val 5806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9336024" y="3611880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(you)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336024" y="401421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· merges · sets the goal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336024" y="44805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9336024" y="44805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human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ACTIVITY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gated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crosses the same stages; each leaves a markdown artifact in .agent_tasks/TASK-*/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66928" cy="566928"/>
          </a:xfrm>
          <a:prstGeom prst="ellipse">
            <a:avLst/>
          </a:prstGeom>
          <a:solidFill>
            <a:srgbClr val="141B3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64748B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148840"/>
            <a:ext cx="1783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00·01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91256" y="2569464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38728" y="21488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E05656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38728" y="2148840"/>
            <a:ext cx="1783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/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58384" y="2569464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05856" y="21488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3D4CB8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05856" y="2148840"/>
            <a:ext cx="1783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to code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25512" y="2569464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872984" y="21488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0E938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72984" y="2148840"/>
            <a:ext cx="1783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92640" y="2569464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40112" y="2148840"/>
            <a:ext cx="1783080" cy="841248"/>
          </a:xfrm>
          <a:prstGeom prst="roundRect">
            <a:avLst>
              <a:gd name="adj" fmla="val 8696"/>
            </a:avLst>
          </a:prstGeom>
          <a:solidFill>
            <a:srgbClr val="5A4FB0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40112" y="2148840"/>
            <a:ext cx="1783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QA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06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207240" y="2569464"/>
            <a:ext cx="365760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2618720" y="2286000"/>
            <a:ext cx="566928" cy="566928"/>
          </a:xfrm>
          <a:prstGeom prst="ellipse">
            <a:avLst/>
          </a:prstGeom>
          <a:solidFill>
            <a:srgbClr val="0E9384"/>
          </a:solidFill>
          <a:ln w="25400">
            <a:solidFill>
              <a:srgbClr val="141B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481560" y="2286000"/>
            <a:ext cx="84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356616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E05656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566160"/>
            <a:ext cx="20116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change → owner sign-off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51960" y="2990088"/>
            <a:ext cx="0" cy="548640"/>
          </a:xfrm>
          <a:prstGeom prst="line">
            <a:avLst/>
          </a:prstGeom>
          <a:noFill/>
          <a:ln w="25400">
            <a:solidFill>
              <a:srgbClr val="E05656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77840" y="35661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3D4CB8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0" y="3566160"/>
            <a:ext cx="19202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= the license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9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code without it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83680" y="2990088"/>
            <a:ext cx="0" cy="548640"/>
          </a:xfrm>
          <a:prstGeom prst="line">
            <a:avLst/>
          </a:prstGeom>
          <a:noFill/>
          <a:ln w="25400">
            <a:solidFill>
              <a:srgbClr val="3D4CB8"/>
            </a:solidFill>
            <a:prstDash val="dash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983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task runs every stage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 shortcut is explicit and recorded in 00_request.md.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bug fix → arch→impl→review    ·    copy → ux→impl→review    ·    strategy → product-scope only    ·    sync → dashboard only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SEQUENCE · CASE STUDY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feature, gate to merge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run: TASK-2026-06-19-license-gate — making the “no code without a license” rule mechanical.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2419" y="178308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6699" y="178308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28216" y="2240280"/>
            <a:ext cx="0" cy="3675888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68691" y="178308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2971" y="178308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Product-Scope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04488" y="2240280"/>
            <a:ext cx="0" cy="3675888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144963" y="178308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E05656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99243" y="178308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/ Safety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240280"/>
            <a:ext cx="0" cy="3675888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21235" y="178308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0E938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75515" y="178308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57032" y="2240280"/>
            <a:ext cx="0" cy="3675888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97507" y="178308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5A4FB0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51787" y="178308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Reviewer-QA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433304" y="2240280"/>
            <a:ext cx="0" cy="3675888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728216" y="2624328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636776" y="23408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enforce the license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36776" y="263804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00_request.md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28216" y="3081528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1636776" y="27980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minimal scope + acceptance criteria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36776" y="309524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01_product_scope.md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28216" y="3538728"/>
            <a:ext cx="4352544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636776" y="325526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impact &amp; 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28216" y="3995928"/>
            <a:ext cx="4352544" cy="0"/>
          </a:xfrm>
          <a:prstGeom prst="line">
            <a:avLst/>
          </a:prstGeom>
          <a:noFill/>
          <a:ln w="22225">
            <a:solidFill>
              <a:srgbClr val="E05656"/>
            </a:solidFill>
            <a:prstDash val="dash"/>
            <a:headEnd type="triangle"/>
          </a:ln>
        </p:spPr>
      </p:sp>
      <p:sp>
        <p:nvSpPr>
          <p:cNvPr id="29" name="Text 27"/>
          <p:cNvSpPr/>
          <p:nvPr/>
        </p:nvSpPr>
        <p:spPr>
          <a:xfrm>
            <a:off x="1636776" y="3712464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YES · 14 conditions · 18 tests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36776" y="4009644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03_architecture_safety.md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728216" y="4453128"/>
            <a:ext cx="6528816" cy="0"/>
          </a:xfrm>
          <a:prstGeom prst="line">
            <a:avLst/>
          </a:prstGeom>
          <a:noFill/>
          <a:ln w="22225">
            <a:solidFill>
              <a:srgbClr val="3D4CB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636776" y="4169664"/>
            <a:ext cx="6711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4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to code — owner signed off (safety-critical)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36776" y="4466844"/>
            <a:ext cx="6711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04_implementation_packet.md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57032" y="4910328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8165592" y="462686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+ 18 tests on feat/ branch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65592" y="492404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05_implementation_handoff.md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728216" y="5367528"/>
            <a:ext cx="8705088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dash"/>
            <a:headEnd type="triangle"/>
          </a:ln>
        </p:spPr>
      </p:sp>
      <p:sp>
        <p:nvSpPr>
          <p:cNvPr id="38" name="Text 36"/>
          <p:cNvSpPr/>
          <p:nvPr/>
        </p:nvSpPr>
        <p:spPr>
          <a:xfrm>
            <a:off x="1636776" y="5084064"/>
            <a:ext cx="8887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request-changes / reject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36776" y="5381244"/>
            <a:ext cx="8887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06_review_result.md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SEQUENCE · THE ONE HARD GATE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must stop and ask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force a halt for safety-critical files, irreversible ops, deploys, and real cost.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674266" y="1920240"/>
            <a:ext cx="2595067" cy="457200"/>
          </a:xfrm>
          <a:prstGeom prst="roundRect">
            <a:avLst>
              <a:gd name="adj" fmla="val 10000"/>
            </a:avLst>
          </a:prstGeom>
          <a:solidFill>
            <a:srgbClr val="0E938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28546" y="1920240"/>
            <a:ext cx="2686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377440"/>
            <a:ext cx="0" cy="4199839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691786" y="1920240"/>
            <a:ext cx="2595067" cy="457200"/>
          </a:xfrm>
          <a:prstGeom prst="roundRect">
            <a:avLst>
              <a:gd name="adj" fmla="val 10000"/>
            </a:avLst>
          </a:prstGeom>
          <a:solidFill>
            <a:srgbClr val="E05656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6066" y="1920240"/>
            <a:ext cx="2686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2377440"/>
            <a:ext cx="0" cy="4199839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709306" y="1920240"/>
            <a:ext cx="2595067" cy="45720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63586" y="1920240"/>
            <a:ext cx="26865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06840" y="2377440"/>
            <a:ext cx="0" cy="4199839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971800" y="2834640"/>
            <a:ext cx="3017520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880360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intends to edit bin/massoh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3438144"/>
            <a:ext cx="3017520" cy="0"/>
          </a:xfrm>
          <a:prstGeom prst="line">
            <a:avLst/>
          </a:prstGeom>
          <a:noFill/>
          <a:ln w="22225">
            <a:solidFill>
              <a:srgbClr val="E05656"/>
            </a:solidFill>
            <a:prstDash val="dash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28803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designated safety-critical (NON_NEGOTIABLES)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71800" y="4041648"/>
            <a:ext cx="6035040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880360" y="375818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sign-off: risks, 14 conditions, rollback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4608576"/>
            <a:ext cx="6309360" cy="420624"/>
          </a:xfrm>
          <a:prstGeom prst="roundRect">
            <a:avLst>
              <a:gd name="adj" fmla="val 10870"/>
            </a:avLst>
          </a:prstGeom>
          <a:solidFill>
            <a:srgbClr val="E8A33D">
              <a:alpha val="92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60857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reviews · decision recorded in AGENT_SYNC.md decision log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71800" y="5278831"/>
            <a:ext cx="6035040" cy="0"/>
          </a:xfrm>
          <a:prstGeom prst="line">
            <a:avLst/>
          </a:prstGeom>
          <a:noFill/>
          <a:ln w="22225">
            <a:solidFill>
              <a:srgbClr val="0E9384"/>
            </a:solidFill>
            <a:prstDash val="dash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2880360" y="4995367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OFF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5882335"/>
            <a:ext cx="3017520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880360" y="5598871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— now licensed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58400" y="2286000"/>
            <a:ext cx="1737360" cy="3017520"/>
          </a:xfrm>
          <a:prstGeom prst="roundRect">
            <a:avLst>
              <a:gd name="adj" fmla="val 5263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41280" y="2468880"/>
            <a:ext cx="1417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it’s reversible / flag-dark — take the safe option and proceed.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only for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· irreversible · deploy · paid spend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SEQUENCE · OPTIONAL AUTONOMY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it work while you’re away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 cron once — idleness-gated, isolated worktrees, safe by default.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2419" y="192024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6699" y="192024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tick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28216" y="2377440"/>
            <a:ext cx="0" cy="4545482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68691" y="192024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2971" y="192024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04488" y="2377440"/>
            <a:ext cx="0" cy="4545482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144963" y="192024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0E938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99243" y="192024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worktree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377440"/>
            <a:ext cx="0" cy="4545482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321235" y="192024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5A4FB0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75515" y="192024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57032" y="2377440"/>
            <a:ext cx="0" cy="4545482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97507" y="1920240"/>
            <a:ext cx="1871594" cy="457200"/>
          </a:xfrm>
          <a:prstGeom prst="roundRect">
            <a:avLst>
              <a:gd name="adj" fmla="val 10000"/>
            </a:avLst>
          </a:prstGeom>
          <a:solidFill>
            <a:srgbClr val="2A3690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51787" y="1920240"/>
            <a:ext cx="1963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433304" y="2377440"/>
            <a:ext cx="0" cy="4545482"/>
          </a:xfrm>
          <a:prstGeom prst="line">
            <a:avLst/>
          </a:prstGeom>
          <a:noFill/>
          <a:ln w="12700">
            <a:solidFill>
              <a:srgbClr val="C4CCD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728216" y="2834640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636776" y="255117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idle? pull top TODO(s)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28216" y="3401568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dash"/>
            <a:headEnd type="triangle"/>
          </a:ln>
        </p:spPr>
      </p:sp>
      <p:sp>
        <p:nvSpPr>
          <p:cNvPr id="23" name="Text 21"/>
          <p:cNvSpPr/>
          <p:nvPr/>
        </p:nvSpPr>
        <p:spPr>
          <a:xfrm>
            <a:off x="1636776" y="3118104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TASK-… (acceptance criteria)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28216" y="3968496"/>
            <a:ext cx="4352544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636776" y="3685032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task in an isolated worktree (--parallel 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28216" y="4535424"/>
            <a:ext cx="4352544" cy="0"/>
          </a:xfrm>
          <a:prstGeom prst="line">
            <a:avLst/>
          </a:prstGeom>
          <a:noFill/>
          <a:ln w="22225">
            <a:solidFill>
              <a:srgbClr val="0E9384"/>
            </a:solidFill>
            <a:prstDash val="dash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1636776" y="4251960"/>
            <a:ext cx="4535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PR  ·  dry-run unless --run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28216" y="5102352"/>
            <a:ext cx="6528816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636776" y="4818888"/>
            <a:ext cx="6711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ceremonies: standup · review · plan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57032" y="5669280"/>
            <a:ext cx="2176272" cy="0"/>
          </a:xfrm>
          <a:prstGeom prst="line">
            <a:avLst/>
          </a:prstGeom>
          <a:noFill/>
          <a:ln w="22225">
            <a:solidFill>
              <a:srgbClr val="1E2A4A"/>
            </a:solidFill>
            <a:prstDash val="dash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165592" y="538581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+ surfaced decisions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65592" y="568299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METRICS.md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591056" y="6199632"/>
            <a:ext cx="8979408" cy="420624"/>
          </a:xfrm>
          <a:prstGeom prst="roundRect">
            <a:avLst>
              <a:gd name="adj" fmla="val 10870"/>
            </a:avLst>
          </a:prstGeom>
          <a:solidFill>
            <a:srgbClr val="E8A33D">
              <a:alpha val="92000"/>
            </a:srgbClr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91056" y="6199632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default: dry-run · auto-merge OFF · paid spend = explicit owner opt-in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POLICIES/09_GUARDRAILS.MD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every agent enforces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suggestions — the agents refuse to cross these.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75688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without a license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04 packet, or an issue with acceptance criteria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075688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938528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+ PR per feature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a feature straight to main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118104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98094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older data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/ soft-delete — never hard-delete or overwrite history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2871216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3118104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2980944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test, every time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stub does not count; the suite must be green before review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1363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160520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40233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broad refactors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explicitly requested and scoped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99632" y="391363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31152" y="402336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honest reporting — failures reported as failures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8A33D">
              <a:alpha val="88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1663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Owner-gated stops  </a:t>
            </a:r>
            <a:pPr indent="0" marL="0">
              <a:buNone/>
            </a:pPr>
            <a:r>
              <a:rPr lang="en-US" sz="1200" dirty="0">
                <a:solidFill>
                  <a:srgbClr val="6B4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halts for: a safety-critical change · an irreversible op · a production deploy · real API spend.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UML CLASS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artifact of record: a task packet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task is one folder. The packet is the detailed history; AGENT_SYNC.md is just the dashboard.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937760" cy="502920"/>
          </a:xfrm>
          <a:prstGeom prst="rect">
            <a:avLst/>
          </a:prstGeom>
          <a:solidFill>
            <a:srgbClr val="141B34"/>
          </a:solidFill>
          <a:ln w="12700">
            <a:solidFill>
              <a:srgbClr val="141B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«artifact»  TASK-YYYY-MM-DD-slug 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3172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+ 00_request.md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94760" y="2331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/start-task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0720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+ 01_product_scope.md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4760" y="28072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product-scope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28269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826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+ 02_ux_review.md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94760" y="32826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(if needed)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758184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75818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+ 03_architecture_safety.md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37581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arch-safety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4233672"/>
            <a:ext cx="4937760" cy="475488"/>
          </a:xfrm>
          <a:prstGeom prst="rect">
            <a:avLst/>
          </a:prstGeom>
          <a:solidFill>
            <a:srgbClr val="EEF0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33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C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+ 04_implementation_packet.md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94760" y="423367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4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470916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7091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+ 05_implementation_handoff.md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94760" y="47091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5184648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184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+ 06_review_result.md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794760" y="5184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1874520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9050">
            <a:solidFill>
              <a:srgbClr val="3D4CB8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874520"/>
            <a:ext cx="91440" cy="1078992"/>
          </a:xfrm>
          <a:prstGeom prst="rect">
            <a:avLst/>
          </a:prstGeom>
          <a:solidFill>
            <a:srgbClr val="3D4CB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0208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00→06 is the spine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00800" y="24048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standard build follows it in order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108960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9050">
            <a:solidFill>
              <a:srgbClr val="0E9384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108960"/>
            <a:ext cx="91440" cy="1078992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2552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append-only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400800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is never deleted — noisy ones move to .agent_tasks/archive/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26480" y="4343400"/>
            <a:ext cx="544068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9050">
            <a:solidFill>
              <a:srgbClr val="E05656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4343400"/>
            <a:ext cx="91440" cy="1078992"/>
          </a:xfrm>
          <a:prstGeom prst="rect">
            <a:avLst/>
          </a:prstGeom>
          <a:solidFill>
            <a:srgbClr val="E05656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489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closable without 06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00800" y="48737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5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task can’t close until the reviewer has written a verdict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REUSE THE HARNESS · DON’T RE-MEASURE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watches its own work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 records what each stage costs, then mines that record for bottlenecks — zero extra LLM spend.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 ledger — tokens per stage (TASK-massoh-ledger)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9456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 meta — ranked bottleneck report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2402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2441448"/>
            <a:ext cx="384048" cy="384048"/>
          </a:xfrm>
          <a:prstGeom prst="ellipse">
            <a:avLst/>
          </a:prstGeom>
          <a:solidFill>
            <a:srgbClr val="3D4CB8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0" y="22402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outliers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burning &gt; 2× the median token spend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766560" y="31546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3355848"/>
            <a:ext cx="384048" cy="384048"/>
          </a:xfrm>
          <a:prstGeom prst="ellipse">
            <a:avLst/>
          </a:prstGeom>
          <a:solidFill>
            <a:srgbClr val="E05656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98080" y="31546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review sends a task back before approve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0" y="40690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0" y="427024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498080" y="4069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drift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aging in NEXT without movement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766560" y="4983480"/>
            <a:ext cx="4892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49440" y="5184648"/>
            <a:ext cx="384048" cy="38404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498080" y="49834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findings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review note ≥ 3 times → a standards gap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META.proposed.md (labeled [meta]); the meta-engineer proposes engine upgrades — it never auto-merges them.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LEARN · THE LEARNING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gets better from its own history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finished packets, the decision log, and git reverts/fixups → lessons → promotable proposals.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99339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77440"/>
            <a:ext cx="1993392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94436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packets · review findings · decision log · git reverts &amp; fixups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3154680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377440"/>
            <a:ext cx="199339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3D4CB8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2377440"/>
            <a:ext cx="1993392" cy="457200"/>
          </a:xfrm>
          <a:prstGeom prst="rect">
            <a:avLst/>
          </a:prstGeom>
          <a:solidFill>
            <a:srgbClr val="3D4CB8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(read-only)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294436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— zero LLM spend, no network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56048" y="3154680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2377440"/>
            <a:ext cx="199339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0E9384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377440"/>
            <a:ext cx="1993392" cy="45720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report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0" y="294436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risks, defects, and standards gaps, ranked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33488" y="3154680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2377440"/>
            <a:ext cx="199339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0" y="2377440"/>
            <a:ext cx="1993392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294436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into LEARNINGS.proposed.md — STANDARDS / memory / ADR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10928" y="3154680"/>
            <a:ext cx="310896" cy="0"/>
          </a:xfrm>
          <a:prstGeom prst="line">
            <a:avLst/>
          </a:prstGeom>
          <a:noFill/>
          <a:ln w="25400">
            <a:solidFill>
              <a:srgbClr val="1E2A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0" y="2377440"/>
            <a:ext cx="1993392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41B34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58400" y="2377440"/>
            <a:ext cx="1993392" cy="457200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promote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241280" y="2944368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404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gate — nothing self-applies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4681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 on day one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real massoh learn run surfaced two of Massoh’s own defects — before a human noticed them.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reviewer role has already caught a real bug and sent a task back before merge. The loop is not theoretical.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AGENT-NATIVE CEREMONIES · NO HUMANS, NO SPEND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sense of time, without the meetings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does the work; cadence reviews and decides. Read-only, deterministic.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3611880" cy="640080"/>
          </a:xfrm>
          <a:prstGeom prst="rect">
            <a:avLst/>
          </a:prstGeom>
          <a:solidFill>
            <a:srgbClr val="0E938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standup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DELTA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since last · DOING + BLOCKED · in-flight packets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19659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9976" y="1965960"/>
            <a:ext cx="3611880" cy="640080"/>
          </a:xfrm>
          <a:prstGeom prst="rect">
            <a:avLst/>
          </a:prstGeom>
          <a:solidFill>
            <a:srgbClr val="3D4CB8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1965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review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4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SNAPSHOT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08576" y="32004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open/reviewed · backlog counts · PRs · reverts → METRICS.md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11312" y="19659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11312" y="1965960"/>
            <a:ext cx="3611880" cy="640080"/>
          </a:xfrm>
          <a:prstGeom prst="rect">
            <a:avLst/>
          </a:prstGeom>
          <a:solidFill>
            <a:srgbClr val="5A4FB0"/>
          </a:solidFill>
          <a:ln/>
        </p:spPr>
      </p:sp>
      <p:sp>
        <p:nvSpPr>
          <p:cNvPr id="17" name="Text 15"/>
          <p:cNvSpPr/>
          <p:nvPr/>
        </p:nvSpPr>
        <p:spPr>
          <a:xfrm>
            <a:off x="8439912" y="1965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plan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39912" y="2788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4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&amp; SURFACE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39912" y="32004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ranked queue · open owner decisions · what’s BLOCKED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cron cadence — period boundaries trigger them automatically. No story points. No retro that nobody reads.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BINARY · PURE BASH · IDEMPOTENT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massoh CLI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to run. No daemon. Verbs you can read end-to-end.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3D4CB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install · update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236976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on · off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767328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03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enable · disable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34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status · doctor · version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828032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64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work · uninstall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10712" y="18745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39312" y="2103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0E9384"/>
          </a:solidFill>
          <a:ln/>
        </p:spPr>
      </p:sp>
      <p:sp>
        <p:nvSpPr>
          <p:cNvPr id="19" name="Text 17"/>
          <p:cNvSpPr/>
          <p:nvPr/>
        </p:nvSpPr>
        <p:spPr>
          <a:xfrm>
            <a:off x="3639312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85032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discover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85032" y="3236976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learn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5032" y="3767328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3803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meta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2784" y="18745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01384" y="2103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5A4FB0"/>
          </a:solidFill>
          <a:ln/>
        </p:spPr>
      </p:sp>
      <p:sp>
        <p:nvSpPr>
          <p:cNvPr id="27" name="Text 25"/>
          <p:cNvSpPr/>
          <p:nvPr/>
        </p:nvSpPr>
        <p:spPr>
          <a:xfrm>
            <a:off x="6501384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47104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standup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47104" y="3236976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7104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47104" y="3767328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3803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plan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34856" y="1874520"/>
            <a:ext cx="2697480" cy="36576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63456" y="2103120"/>
            <a:ext cx="224028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35" name="Text 33"/>
          <p:cNvSpPr/>
          <p:nvPr/>
        </p:nvSpPr>
        <p:spPr>
          <a:xfrm>
            <a:off x="9363456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409176" y="2743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cron once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09176" y="3236976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9176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cron install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409176" y="3767328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09176" y="38039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--run · --parallel 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409176" y="4297680"/>
            <a:ext cx="2148840" cy="0"/>
          </a:xfrm>
          <a:prstGeom prst="line">
            <a:avLst/>
          </a:prstGeom>
          <a:noFill/>
          <a:ln w="9525">
            <a:solidFill>
              <a:srgbClr val="EEF0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09176" y="43342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B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--auto-merge (opt-in)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+ cadence verbs are read-only and spend nothing. Autonomy is dry-run unless you opt in. install backs up first.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· DOGFOODED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 is its own first project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below was built by the massoh-* team, on Massoh, through Massoh’s own gate.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88336" cy="1554480"/>
          </a:xfrm>
          <a:prstGeom prst="roundRect">
            <a:avLst>
              <a:gd name="adj" fmla="val 5882"/>
            </a:avLst>
          </a:prstGeom>
          <a:solidFill>
            <a:srgbClr val="1E2A4A"/>
          </a:solidFill>
          <a:ln w="12700">
            <a:solidFill>
              <a:srgbClr val="2C3A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58568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2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 → 0.9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shipped through the gate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2057400"/>
            <a:ext cx="2688336" cy="1554480"/>
          </a:xfrm>
          <a:prstGeom prst="roundRect">
            <a:avLst>
              <a:gd name="adj" fmla="val 5882"/>
            </a:avLst>
          </a:prstGeom>
          <a:solidFill>
            <a:srgbClr val="1E2A4A"/>
          </a:solidFill>
          <a:ln w="12700">
            <a:solidFill>
              <a:srgbClr val="2C3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2258568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84448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roles, one owner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4496" y="2057400"/>
            <a:ext cx="2688336" cy="1554480"/>
          </a:xfrm>
          <a:prstGeom prst="roundRect">
            <a:avLst>
              <a:gd name="adj" fmla="val 5882"/>
            </a:avLst>
          </a:prstGeom>
          <a:solidFill>
            <a:srgbClr val="1E2A4A"/>
          </a:solidFill>
          <a:ln w="12700">
            <a:solidFill>
              <a:srgbClr val="2C3A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2258568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2B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 → 222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437376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green before every merge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07424" y="2057400"/>
            <a:ext cx="2688336" cy="1554480"/>
          </a:xfrm>
          <a:prstGeom prst="roundRect">
            <a:avLst>
              <a:gd name="adj" fmla="val 5882"/>
            </a:avLst>
          </a:prstGeom>
          <a:solidFill>
            <a:srgbClr val="1E2A4A"/>
          </a:solidFill>
          <a:ln w="12700">
            <a:solidFill>
              <a:srgbClr val="2C3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7424" y="2258568"/>
            <a:ext cx="2688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90304" y="301752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changes carry a packet trail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trail (real merges)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4754880"/>
            <a:ext cx="10607040" cy="0"/>
          </a:xfrm>
          <a:prstGeom prst="line">
            <a:avLst/>
          </a:prstGeom>
          <a:noFill/>
          <a:ln w="25400">
            <a:solidFill>
              <a:srgbClr val="3440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663440"/>
            <a:ext cx="182880" cy="182880"/>
          </a:xfrm>
          <a:prstGeom prst="ellipse">
            <a:avLst/>
          </a:prstGeom>
          <a:solidFill>
            <a:srgbClr val="12B5A0"/>
          </a:solidFill>
          <a:ln/>
        </p:spPr>
      </p:sp>
      <p:sp>
        <p:nvSpPr>
          <p:cNvPr id="20" name="Text 18"/>
          <p:cNvSpPr/>
          <p:nvPr/>
        </p:nvSpPr>
        <p:spPr>
          <a:xfrm>
            <a:off x="-1371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cadence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07208" y="4663440"/>
            <a:ext cx="182880" cy="182880"/>
          </a:xfrm>
          <a:prstGeom prst="ellipse">
            <a:avLst/>
          </a:prstGeom>
          <a:solidFill>
            <a:srgbClr val="12B5A0"/>
          </a:solidFill>
          <a:ln/>
        </p:spPr>
      </p:sp>
      <p:sp>
        <p:nvSpPr>
          <p:cNvPr id="22" name="Text 20"/>
          <p:cNvSpPr/>
          <p:nvPr/>
        </p:nvSpPr>
        <p:spPr>
          <a:xfrm>
            <a:off x="1984248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 learn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28616" y="4663440"/>
            <a:ext cx="182880" cy="182880"/>
          </a:xfrm>
          <a:prstGeom prst="ellipse">
            <a:avLst/>
          </a:prstGeom>
          <a:solidFill>
            <a:srgbClr val="12B5A0"/>
          </a:solidFill>
          <a:ln/>
        </p:spPr>
      </p:sp>
      <p:sp>
        <p:nvSpPr>
          <p:cNvPr id="24" name="Text 22"/>
          <p:cNvSpPr/>
          <p:nvPr/>
        </p:nvSpPr>
        <p:spPr>
          <a:xfrm>
            <a:off x="4105656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 efficiency-v2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50024" y="4663440"/>
            <a:ext cx="182880" cy="182880"/>
          </a:xfrm>
          <a:prstGeom prst="ellipse">
            <a:avLst/>
          </a:prstGeom>
          <a:solidFill>
            <a:srgbClr val="12B5A0"/>
          </a:solidFill>
          <a:ln/>
        </p:spPr>
      </p:sp>
      <p:sp>
        <p:nvSpPr>
          <p:cNvPr id="26" name="Text 24"/>
          <p:cNvSpPr/>
          <p:nvPr/>
        </p:nvSpPr>
        <p:spPr>
          <a:xfrm>
            <a:off x="6227064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 ledger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71432" y="4663440"/>
            <a:ext cx="182880" cy="182880"/>
          </a:xfrm>
          <a:prstGeom prst="ellipse">
            <a:avLst/>
          </a:prstGeom>
          <a:solidFill>
            <a:srgbClr val="12B5A0"/>
          </a:solidFill>
          <a:ln/>
        </p:spPr>
      </p:sp>
      <p:sp>
        <p:nvSpPr>
          <p:cNvPr id="28" name="Text 26"/>
          <p:cNvSpPr/>
          <p:nvPr/>
        </p:nvSpPr>
        <p:spPr>
          <a:xfrm>
            <a:off x="8348472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 meta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292840" y="466344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10469880" y="4937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license-gate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feature where the reviewer caught a real bug and sent it back before merge — and a massoh learn run that found two defects on day one.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HONEST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not just…?”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objections an engineer actually raises.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114800" cy="9692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74520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“…just prompt Claude Code better?”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92040" y="2212848"/>
            <a:ext cx="292608" cy="29260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874520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per-session and unenforced. Massoh makes the rule structural — the gate exists whether or not you remember to ask for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90088"/>
            <a:ext cx="4114800" cy="9692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9008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“…just use Scrum / Jira?”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92040" y="3328416"/>
            <a:ext cx="292608" cy="29260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2990088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coordinate humans across days. Agents sync through files in milliseconds. You want the discipline, not the calendar.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105656"/>
            <a:ext cx="4114800" cy="9692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105656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“…trust the model to be careful?”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92040" y="4443984"/>
            <a:ext cx="292608" cy="29260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49240" y="4105656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Careful-on-average still deletes prod once. Guardrails make the dangerous classes of action require a human, every time.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221224"/>
            <a:ext cx="11091672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5221224"/>
            <a:ext cx="4114800" cy="969264"/>
          </a:xfrm>
          <a:prstGeom prst="rect">
            <a:avLst/>
          </a:prstGeom>
          <a:solidFill>
            <a:srgbClr val="141B34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5221224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“…it’ll slow me down.”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892040" y="5559552"/>
            <a:ext cx="292608" cy="292608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5559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5221224"/>
            <a:ext cx="6126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stages cost nothing and run in parallel. The only deliberate friction is one sign-off on safety-critical change.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OF THE WAY UNTIL YOU OPT 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footprint by design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globally once; every other repo behaves like normal Claude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3D4CB8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4C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roles, skills, workflow, policies, templates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 (installed once)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9976" y="19202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E9384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2148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non-negotiables, strategy, standards, ADRs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08576" y="3611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host repo (agent-project/, root)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11312" y="1920240"/>
            <a:ext cx="36118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5A4FB0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9912" y="2148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4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9912" y="26974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accreted, project-specific learnings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39912" y="3611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host repo only — Massoh ships only the schema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41B34"/>
          </a:solidFill>
          <a:ln/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2B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only always-on surface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…is a small, marker-gated block in ~/.claude/CLAUDE.md: engage the workflow only in an opted-in repo (agent-project/ or a .massoh marker); otherwise behave as normal Claude Code. Agents and skills are inert until invoked — zero cost when unused, clean uninstall after a backup.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3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MINUTES TO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on one repo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at every step. Back up, opt in, mine conventions, go.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4248"/>
            <a:ext cx="548640" cy="548640"/>
          </a:xfrm>
          <a:prstGeom prst="ellipse">
            <a:avLst/>
          </a:prstGeom>
          <a:solidFill>
            <a:srgbClr val="3D4CB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84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8745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team once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20299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1630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2029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bin/massoh install   # backs up ~/.claude first, idempotent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898648"/>
            <a:ext cx="548640" cy="548640"/>
          </a:xfrm>
          <a:prstGeom prst="ellipse">
            <a:avLst/>
          </a:prstGeom>
          <a:solidFill>
            <a:srgbClr val="0E938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27889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a repo 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0640" y="29443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1630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29443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 &amp;&amp; massoh on   # scaffolds, never overwrites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3813048"/>
            <a:ext cx="548640" cy="548640"/>
          </a:xfrm>
          <a:prstGeom prst="ellipse">
            <a:avLst/>
          </a:prstGeom>
          <a:solidFill>
            <a:srgbClr val="5A4FB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37033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its conventions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38587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1630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38587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discover   # → agent-project/STANDARDS.md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4727448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08760" y="46177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task through the gate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20640" y="47731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1630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47731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→  /start-task "add X"   # product-scope decides first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91672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FE3EC"/>
            </a:solidFill>
            <a:prstDash val="solid"/>
          </a:ln>
          <a:effectLst>
            <a:outerShdw sx="100000" sy="100000" kx="0" ky="0" algn="bl" rotWithShape="0" blurRad="88900" dist="38100" dir="8100000">
              <a:srgbClr val="0B102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5641848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5641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08760" y="553212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out anytime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20640" y="5687568"/>
            <a:ext cx="6309360" cy="457200"/>
          </a:xfrm>
          <a:prstGeom prst="roundRect">
            <a:avLst>
              <a:gd name="adj" fmla="val 12000"/>
            </a:avLst>
          </a:prstGeom>
          <a:solidFill>
            <a:srgbClr val="0E1630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5687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E9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massoh off  ·  massoh uninstall   # files preserved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0"/>
            <a:ext cx="0" cy="6858000"/>
          </a:xfrm>
          <a:prstGeom prst="line">
            <a:avLst/>
          </a:prstGeom>
          <a:noFill/>
          <a:ln w="12700">
            <a:solidFill>
              <a:srgbClr val="1C2A4C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0" cy="6858000"/>
          </a:xfrm>
          <a:prstGeom prst="line">
            <a:avLst/>
          </a:prstGeom>
          <a:noFill/>
          <a:ln w="12700">
            <a:solidFill>
              <a:srgbClr val="1C2A4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12700">
            <a:solidFill>
              <a:srgbClr val="1C2A4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1C2A4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749040" y="0"/>
            <a:ext cx="0" cy="6858000"/>
          </a:xfrm>
          <a:prstGeom prst="line">
            <a:avLst/>
          </a:prstGeom>
          <a:noFill/>
          <a:ln w="12700">
            <a:solidFill>
              <a:srgbClr val="1C2A4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Massoh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841248" y="2606040"/>
            <a:ext cx="0" cy="914400"/>
          </a:xfrm>
          <a:prstGeom prst="line">
            <a:avLst/>
          </a:prstGeom>
          <a:noFill/>
          <a:ln w="38100">
            <a:solidFill>
              <a:srgbClr val="12B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Governance, self-measurement, and autonomy — coupled.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coupling is the moat.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7947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product goal → a disciplined team of agents ships it autonomously,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time/token/cost-aware, learning from its own history, reusing the harness it already runs 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4892040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892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github.com/hsoffar/Massoh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rgbClr val="0E9384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892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· opt in · 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“Agile’s discipline without agile’s meetings — enforced, auditable, for AI agents.”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437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MASSOH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373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Massoh — an agent operating system for Claude Code</dc:title>
  <dc:subject>PptxGenJS Presentation</dc:subject>
  <dc:creator>Massoh</dc:creator>
  <cp:lastModifiedBy>Massoh</cp:lastModifiedBy>
  <cp:revision>1</cp:revision>
  <dcterms:created xsi:type="dcterms:W3CDTF">2026-06-19T09:17:39Z</dcterms:created>
  <dcterms:modified xsi:type="dcterms:W3CDTF">2026-06-19T09:17:39Z</dcterms:modified>
</cp:coreProperties>
</file>